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70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91" d="100"/>
          <a:sy n="91" d="100"/>
        </p:scale>
        <p:origin x="53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12580" y="1429408"/>
            <a:ext cx="9392032" cy="987972"/>
          </a:xfrm>
        </p:spPr>
        <p:txBody>
          <a:bodyPr>
            <a:noAutofit/>
          </a:bodyPr>
          <a:lstStyle/>
          <a:p>
            <a:pPr algn="ctr"/>
            <a:r>
              <a:rPr lang="fa-IR" sz="6600" dirty="0" smtClean="0"/>
              <a:t>بنام خدا</a:t>
            </a:r>
            <a:endParaRPr lang="en-US" sz="6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50896" y="3484606"/>
            <a:ext cx="8915399" cy="1126283"/>
          </a:xfrm>
        </p:spPr>
        <p:txBody>
          <a:bodyPr>
            <a:normAutofit/>
          </a:bodyPr>
          <a:lstStyle/>
          <a:p>
            <a:pPr algn="ctr"/>
            <a:r>
              <a:rPr lang="fa-IR" sz="2800" dirty="0" smtClean="0">
                <a:solidFill>
                  <a:schemeClr val="tx1"/>
                </a:solidFill>
              </a:rPr>
              <a:t>پروژه تحلیل داده تنیس</a:t>
            </a:r>
          </a:p>
          <a:p>
            <a:pPr algn="ctr"/>
            <a:r>
              <a:rPr lang="fa-IR" sz="2800" dirty="0" smtClean="0">
                <a:solidFill>
                  <a:schemeClr val="tx1"/>
                </a:solidFill>
              </a:rPr>
              <a:t>گروه سوم : پورعلی و برزگر و خوبرو</a:t>
            </a: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2959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5628" y="325820"/>
            <a:ext cx="976411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50000"/>
              </a:lnSpc>
            </a:pPr>
            <a:r>
              <a:rPr lang="fa-IR" dirty="0" smtClean="0">
                <a:solidFill>
                  <a:srgbClr val="C00000"/>
                </a:solidFill>
                <a:sym typeface="Wingdings" panose="05000000000000000000" pitchFamily="2" charset="2"/>
              </a:rPr>
              <a:t></a:t>
            </a:r>
            <a:r>
              <a:rPr lang="fa-IR" dirty="0" smtClean="0">
                <a:solidFill>
                  <a:srgbClr val="002060"/>
                </a:solidFill>
                <a:sym typeface="Wingdings" panose="05000000000000000000" pitchFamily="2" charset="2"/>
              </a:rPr>
              <a:t> </a:t>
            </a:r>
            <a:r>
              <a:rPr lang="fa-IR" dirty="0" smtClean="0">
                <a:solidFill>
                  <a:srgbClr val="002060"/>
                </a:solidFill>
              </a:rPr>
              <a:t>1. چه تعداد بازیکن در دیتا است ؟ </a:t>
            </a:r>
            <a:r>
              <a:rPr lang="fa-IR" dirty="0">
                <a:solidFill>
                  <a:srgbClr val="002060"/>
                </a:solidFill>
              </a:rPr>
              <a:t>۲۶۵۱ نفر</a:t>
            </a:r>
          </a:p>
          <a:p>
            <a:pPr algn="r">
              <a:lnSpc>
                <a:spcPct val="250000"/>
              </a:lnSpc>
            </a:pPr>
            <a:r>
              <a:rPr lang="fa-IR" dirty="0" smtClean="0">
                <a:solidFill>
                  <a:srgbClr val="C00000"/>
                </a:solidFill>
                <a:sym typeface="Wingdings" panose="05000000000000000000" pitchFamily="2" charset="2"/>
              </a:rPr>
              <a:t></a:t>
            </a:r>
            <a:r>
              <a:rPr lang="fa-IR" dirty="0" smtClean="0">
                <a:solidFill>
                  <a:srgbClr val="002060"/>
                </a:solidFill>
                <a:sym typeface="Wingdings" panose="05000000000000000000" pitchFamily="2" charset="2"/>
              </a:rPr>
              <a:t> 2. </a:t>
            </a:r>
            <a:r>
              <a:rPr lang="fa-IR" dirty="0" smtClean="0">
                <a:solidFill>
                  <a:srgbClr val="002060"/>
                </a:solidFill>
              </a:rPr>
              <a:t>میانگین </a:t>
            </a:r>
            <a:r>
              <a:rPr lang="fa-IR" dirty="0">
                <a:solidFill>
                  <a:srgbClr val="002060"/>
                </a:solidFill>
              </a:rPr>
              <a:t>قدی </a:t>
            </a:r>
            <a:r>
              <a:rPr lang="fa-IR" dirty="0" smtClean="0">
                <a:solidFill>
                  <a:srgbClr val="002060"/>
                </a:solidFill>
              </a:rPr>
              <a:t>بازیکنان چقدر است </a:t>
            </a:r>
            <a:r>
              <a:rPr lang="fa-IR" dirty="0">
                <a:solidFill>
                  <a:srgbClr val="002060"/>
                </a:solidFill>
              </a:rPr>
              <a:t>؟</a:t>
            </a:r>
            <a:r>
              <a:rPr lang="fa-IR" dirty="0" smtClean="0">
                <a:solidFill>
                  <a:srgbClr val="002060"/>
                </a:solidFill>
              </a:rPr>
              <a:t> </a:t>
            </a:r>
            <a:r>
              <a:rPr lang="fa-IR" dirty="0">
                <a:solidFill>
                  <a:srgbClr val="002060"/>
                </a:solidFill>
              </a:rPr>
              <a:t>۱.۸۲ </a:t>
            </a:r>
            <a:r>
              <a:rPr lang="fa-IR" dirty="0" smtClean="0">
                <a:solidFill>
                  <a:srgbClr val="002060"/>
                </a:solidFill>
              </a:rPr>
              <a:t>متر</a:t>
            </a:r>
            <a:endParaRPr lang="fa-IR" dirty="0" smtClean="0">
              <a:solidFill>
                <a:srgbClr val="002060"/>
              </a:solidFill>
            </a:endParaRPr>
          </a:p>
          <a:p>
            <a:pPr algn="r">
              <a:lnSpc>
                <a:spcPct val="250000"/>
              </a:lnSpc>
            </a:pPr>
            <a:r>
              <a:rPr lang="fa-IR" dirty="0" smtClean="0">
                <a:solidFill>
                  <a:srgbClr val="C00000"/>
                </a:solidFill>
                <a:sym typeface="Wingdings" panose="05000000000000000000" pitchFamily="2" charset="2"/>
              </a:rPr>
              <a:t></a:t>
            </a:r>
            <a:r>
              <a:rPr lang="fa-IR" dirty="0" smtClean="0">
                <a:solidFill>
                  <a:srgbClr val="002060"/>
                </a:solidFill>
                <a:sym typeface="Wingdings" panose="05000000000000000000" pitchFamily="2" charset="2"/>
              </a:rPr>
              <a:t>4. </a:t>
            </a:r>
            <a:r>
              <a:rPr lang="fa-IR" dirty="0" smtClean="0">
                <a:solidFill>
                  <a:srgbClr val="002060"/>
                </a:solidFill>
              </a:rPr>
              <a:t>طولانی </a:t>
            </a:r>
            <a:r>
              <a:rPr lang="fa-IR" dirty="0">
                <a:solidFill>
                  <a:srgbClr val="002060"/>
                </a:solidFill>
              </a:rPr>
              <a:t>ترین </a:t>
            </a:r>
            <a:r>
              <a:rPr lang="fa-IR" dirty="0" smtClean="0">
                <a:solidFill>
                  <a:srgbClr val="002060"/>
                </a:solidFill>
              </a:rPr>
              <a:t>بازی کدام است </a:t>
            </a:r>
            <a:r>
              <a:rPr lang="fa-IR" dirty="0">
                <a:solidFill>
                  <a:srgbClr val="002060"/>
                </a:solidFill>
              </a:rPr>
              <a:t>؟</a:t>
            </a:r>
            <a:endParaRPr lang="fa-IR" dirty="0">
              <a:solidFill>
                <a:srgbClr val="002060"/>
              </a:solidFill>
            </a:endParaRPr>
          </a:p>
          <a:p>
            <a:pPr algn="r">
              <a:lnSpc>
                <a:spcPct val="250000"/>
              </a:lnSpc>
            </a:pPr>
            <a:r>
              <a:rPr lang="fa-IR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Yanaki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Milev</a:t>
            </a:r>
            <a:r>
              <a:rPr lang="en-US" dirty="0">
                <a:solidFill>
                  <a:srgbClr val="002060"/>
                </a:solidFill>
              </a:rPr>
              <a:t> vs. Giuseppe La Vela</a:t>
            </a:r>
          </a:p>
          <a:p>
            <a:pPr algn="r">
              <a:lnSpc>
                <a:spcPct val="250000"/>
              </a:lnSpc>
            </a:pPr>
            <a:r>
              <a:rPr lang="fa-IR" dirty="0" smtClean="0">
                <a:solidFill>
                  <a:srgbClr val="C00000"/>
                </a:solidFill>
                <a:sym typeface="Wingdings" panose="05000000000000000000" pitchFamily="2" charset="2"/>
              </a:rPr>
              <a:t></a:t>
            </a:r>
            <a:r>
              <a:rPr lang="fa-IR" dirty="0" smtClean="0">
                <a:solidFill>
                  <a:srgbClr val="002060"/>
                </a:solidFill>
                <a:sym typeface="Wingdings" panose="05000000000000000000" pitchFamily="2" charset="2"/>
              </a:rPr>
              <a:t>5. </a:t>
            </a:r>
            <a:r>
              <a:rPr lang="fa-IR" dirty="0" smtClean="0">
                <a:solidFill>
                  <a:srgbClr val="002060"/>
                </a:solidFill>
              </a:rPr>
              <a:t>معمولا در هر بازی تنیس چند ست بازی میشود؟</a:t>
            </a:r>
            <a:endParaRPr lang="fa-IR" dirty="0">
              <a:solidFill>
                <a:srgbClr val="002060"/>
              </a:solidFill>
            </a:endParaRPr>
          </a:p>
          <a:p>
            <a:pPr algn="r">
              <a:lnSpc>
                <a:spcPct val="250000"/>
              </a:lnSpc>
            </a:pPr>
            <a:r>
              <a:rPr lang="fa-IR" dirty="0">
                <a:solidFill>
                  <a:srgbClr val="002060"/>
                </a:solidFill>
              </a:rPr>
              <a:t>در بازی های ۲ از ۳ میانگین ۲.۳ ست و در بازی های ۳ از ۵ میانگین ۳.۷۳ ست بازی شده </a:t>
            </a:r>
            <a:r>
              <a:rPr lang="fa-IR" dirty="0" smtClean="0">
                <a:solidFill>
                  <a:srgbClr val="002060"/>
                </a:solidFill>
              </a:rPr>
              <a:t>است</a:t>
            </a:r>
            <a:endParaRPr lang="fa-IR" dirty="0" smtClean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7090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97572" y="-378373"/>
            <a:ext cx="9480330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endParaRPr lang="fa-IR" dirty="0">
              <a:solidFill>
                <a:srgbClr val="002060"/>
              </a:solidFill>
            </a:endParaRPr>
          </a:p>
          <a:p>
            <a:pPr algn="r">
              <a:lnSpc>
                <a:spcPct val="200000"/>
              </a:lnSpc>
            </a:pPr>
            <a:r>
              <a:rPr lang="fa-IR" dirty="0" smtClean="0">
                <a:solidFill>
                  <a:srgbClr val="FF0000"/>
                </a:solidFill>
                <a:sym typeface="Wingdings" panose="05000000000000000000" pitchFamily="2" charset="2"/>
              </a:rPr>
              <a:t> </a:t>
            </a:r>
            <a:r>
              <a:rPr lang="fa-IR" dirty="0" smtClean="0">
                <a:solidFill>
                  <a:srgbClr val="002060"/>
                </a:solidFill>
                <a:sym typeface="Wingdings" panose="05000000000000000000" pitchFamily="2" charset="2"/>
              </a:rPr>
              <a:t>7. </a:t>
            </a:r>
            <a:r>
              <a:rPr lang="fa-IR" dirty="0">
                <a:solidFill>
                  <a:srgbClr val="002060"/>
                </a:solidFill>
                <a:sym typeface="Wingdings" panose="05000000000000000000" pitchFamily="2" charset="2"/>
              </a:rPr>
              <a:t>میانگین ایس در هر بازی چقدر است ؟ ۵.۳۵ در هر بازی</a:t>
            </a:r>
          </a:p>
          <a:p>
            <a:pPr algn="r">
              <a:lnSpc>
                <a:spcPct val="200000"/>
              </a:lnSpc>
            </a:pPr>
            <a:r>
              <a:rPr lang="fa-IR" dirty="0" smtClean="0">
                <a:solidFill>
                  <a:srgbClr val="FF0000"/>
                </a:solidFill>
                <a:sym typeface="Wingdings" panose="05000000000000000000" pitchFamily="2" charset="2"/>
              </a:rPr>
              <a:t></a:t>
            </a:r>
            <a:r>
              <a:rPr lang="fa-IR" dirty="0" smtClean="0">
                <a:solidFill>
                  <a:srgbClr val="002060"/>
                </a:solidFill>
                <a:sym typeface="Wingdings" panose="05000000000000000000" pitchFamily="2" charset="2"/>
              </a:rPr>
              <a:t>9</a:t>
            </a:r>
            <a:r>
              <a:rPr lang="fa-IR" dirty="0">
                <a:solidFill>
                  <a:srgbClr val="002060"/>
                </a:solidFill>
                <a:sym typeface="Wingdings" panose="05000000000000000000" pitchFamily="2" charset="2"/>
              </a:rPr>
              <a:t>. کدام بازیکن در مدت یک ماه بیشترین قهرمانی را بدست اورده است؟ </a:t>
            </a:r>
          </a:p>
          <a:p>
            <a:pPr algn="r">
              <a:lnSpc>
                <a:spcPct val="200000"/>
              </a:lnSpc>
            </a:pPr>
            <a:r>
              <a:rPr lang="fa-IR" dirty="0">
                <a:solidFill>
                  <a:srgbClr val="002060"/>
                </a:solidFill>
                <a:sym typeface="Wingdings" panose="05000000000000000000" pitchFamily="2" charset="2"/>
              </a:rPr>
              <a:t>هیچ بازیکنی بیشتر از یک قهرمانی بدست </a:t>
            </a:r>
            <a:r>
              <a:rPr lang="fa-IR" dirty="0" smtClean="0">
                <a:solidFill>
                  <a:srgbClr val="002060"/>
                </a:solidFill>
                <a:sym typeface="Wingdings" panose="05000000000000000000" pitchFamily="2" charset="2"/>
              </a:rPr>
              <a:t>نیاورده</a:t>
            </a:r>
            <a:endParaRPr lang="fa-IR" dirty="0" smtClean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algn="r">
              <a:lnSpc>
                <a:spcPct val="200000"/>
              </a:lnSpc>
            </a:pPr>
            <a:r>
              <a:rPr lang="fa-IR" dirty="0" smtClean="0">
                <a:solidFill>
                  <a:srgbClr val="FF0000"/>
                </a:solidFill>
                <a:sym typeface="Wingdings" panose="05000000000000000000" pitchFamily="2" charset="2"/>
              </a:rPr>
              <a:t></a:t>
            </a:r>
            <a:r>
              <a:rPr lang="fa-IR" dirty="0" smtClean="0">
                <a:solidFill>
                  <a:srgbClr val="002060"/>
                </a:solidFill>
                <a:sym typeface="Wingdings" panose="05000000000000000000" pitchFamily="2" charset="2"/>
              </a:rPr>
              <a:t> 11. </a:t>
            </a:r>
            <a:r>
              <a:rPr lang="fa-IR" dirty="0" smtClean="0">
                <a:solidFill>
                  <a:srgbClr val="002060"/>
                </a:solidFill>
              </a:rPr>
              <a:t>میانگین </a:t>
            </a:r>
            <a:r>
              <a:rPr lang="fa-IR" dirty="0">
                <a:solidFill>
                  <a:srgbClr val="002060"/>
                </a:solidFill>
              </a:rPr>
              <a:t>مدت هر </a:t>
            </a:r>
            <a:r>
              <a:rPr lang="fa-IR" dirty="0" smtClean="0">
                <a:solidFill>
                  <a:srgbClr val="002060"/>
                </a:solidFill>
              </a:rPr>
              <a:t>بازی جقدر است؟  </a:t>
            </a:r>
            <a:r>
              <a:rPr lang="fa-IR" dirty="0">
                <a:solidFill>
                  <a:srgbClr val="002060"/>
                </a:solidFill>
              </a:rPr>
              <a:t>۱۰۳ دقیقه</a:t>
            </a:r>
          </a:p>
          <a:p>
            <a:pPr algn="r">
              <a:lnSpc>
                <a:spcPct val="200000"/>
              </a:lnSpc>
            </a:pPr>
            <a:r>
              <a:rPr lang="fa-IR" dirty="0" smtClean="0">
                <a:solidFill>
                  <a:srgbClr val="FF0000"/>
                </a:solidFill>
                <a:sym typeface="Wingdings" panose="05000000000000000000" pitchFamily="2" charset="2"/>
              </a:rPr>
              <a:t></a:t>
            </a:r>
            <a:r>
              <a:rPr lang="fa-IR" dirty="0" smtClean="0">
                <a:solidFill>
                  <a:srgbClr val="002060"/>
                </a:solidFill>
                <a:sym typeface="Wingdings" panose="05000000000000000000" pitchFamily="2" charset="2"/>
              </a:rPr>
              <a:t> </a:t>
            </a:r>
            <a:r>
              <a:rPr lang="fa-IR" dirty="0" smtClean="0">
                <a:solidFill>
                  <a:srgbClr val="002060"/>
                </a:solidFill>
              </a:rPr>
              <a:t>15. چند کشور در دیتا دارای نماینده هستند؟ </a:t>
            </a:r>
            <a:r>
              <a:rPr lang="fa-IR" dirty="0">
                <a:solidFill>
                  <a:srgbClr val="002060"/>
                </a:solidFill>
              </a:rPr>
              <a:t>۹۶ </a:t>
            </a:r>
            <a:r>
              <a:rPr lang="fa-IR" dirty="0" smtClean="0">
                <a:solidFill>
                  <a:srgbClr val="002060"/>
                </a:solidFill>
              </a:rPr>
              <a:t>کشور</a:t>
            </a:r>
          </a:p>
          <a:p>
            <a:pPr algn="r">
              <a:lnSpc>
                <a:spcPct val="200000"/>
              </a:lnSpc>
            </a:pPr>
            <a:r>
              <a:rPr lang="fa-IR" dirty="0" smtClean="0">
                <a:solidFill>
                  <a:srgbClr val="FF0000"/>
                </a:solidFill>
                <a:sym typeface="Wingdings" panose="05000000000000000000" pitchFamily="2" charset="2"/>
              </a:rPr>
              <a:t></a:t>
            </a:r>
            <a:r>
              <a:rPr lang="fa-IR" dirty="0" smtClean="0">
                <a:solidFill>
                  <a:srgbClr val="002060"/>
                </a:solidFill>
                <a:sym typeface="Wingdings" panose="05000000000000000000" pitchFamily="2" charset="2"/>
              </a:rPr>
              <a:t> </a:t>
            </a:r>
            <a:r>
              <a:rPr lang="fa-IR" dirty="0" smtClean="0">
                <a:solidFill>
                  <a:srgbClr val="002060"/>
                </a:solidFill>
                <a:sym typeface="Wingdings" panose="05000000000000000000" pitchFamily="2" charset="2"/>
              </a:rPr>
              <a:t>16. چه بازیکنانی بیشترین درصد برد مقابل ده بازیکن برتر را دارند؟ </a:t>
            </a:r>
          </a:p>
          <a:p>
            <a:pPr algn="r">
              <a:lnSpc>
                <a:spcPct val="200000"/>
              </a:lnSpc>
            </a:pPr>
            <a:r>
              <a:rPr lang="en-US" dirty="0" smtClean="0">
                <a:solidFill>
                  <a:srgbClr val="002060"/>
                </a:solidFill>
                <a:sym typeface="Wingdings" panose="05000000000000000000" pitchFamily="2" charset="2"/>
              </a:rPr>
              <a:t>K. Van </a:t>
            </a:r>
            <a:r>
              <a:rPr lang="en-US" dirty="0" err="1" smtClean="0">
                <a:solidFill>
                  <a:srgbClr val="002060"/>
                </a:solidFill>
                <a:sym typeface="Wingdings" panose="05000000000000000000" pitchFamily="2" charset="2"/>
              </a:rPr>
              <a:t>Wyk</a:t>
            </a:r>
            <a:endParaRPr lang="fa-IR" dirty="0" smtClean="0">
              <a:solidFill>
                <a:srgbClr val="002060"/>
              </a:solidFill>
              <a:sym typeface="Wingdings" panose="05000000000000000000" pitchFamily="2" charset="2"/>
            </a:endParaRPr>
          </a:p>
          <a:p>
            <a:pPr algn="r">
              <a:lnSpc>
                <a:spcPct val="200000"/>
              </a:lnSpc>
            </a:pPr>
            <a:r>
              <a:rPr lang="fa-IR" dirty="0" smtClean="0">
                <a:solidFill>
                  <a:srgbClr val="002060"/>
                </a:solidFill>
              </a:rPr>
              <a:t>با درصد برد ۱۲.۵٪ مقابل ده نفر برتر (دو برد)</a:t>
            </a:r>
          </a:p>
          <a:p>
            <a:pPr algn="r">
              <a:lnSpc>
                <a:spcPct val="200000"/>
              </a:lnSpc>
            </a:pPr>
            <a:r>
              <a:rPr lang="fa-IR" dirty="0" smtClean="0">
                <a:solidFill>
                  <a:srgbClr val="FF0000"/>
                </a:solidFill>
                <a:sym typeface="Wingdings" panose="05000000000000000000" pitchFamily="2" charset="2"/>
              </a:rPr>
              <a:t></a:t>
            </a:r>
            <a:r>
              <a:rPr lang="fa-IR" dirty="0" smtClean="0">
                <a:solidFill>
                  <a:srgbClr val="002060"/>
                </a:solidFill>
                <a:sym typeface="Wingdings" panose="05000000000000000000" pitchFamily="2" charset="2"/>
              </a:rPr>
              <a:t> 17. </a:t>
            </a:r>
            <a:r>
              <a:rPr lang="fa-IR" dirty="0" smtClean="0">
                <a:solidFill>
                  <a:srgbClr val="002060"/>
                </a:solidFill>
              </a:rPr>
              <a:t>میانگین رخ دادن بریک در هر بازی چقدر است؟  </a:t>
            </a:r>
          </a:p>
          <a:p>
            <a:pPr algn="r">
              <a:lnSpc>
                <a:spcPct val="200000"/>
              </a:lnSpc>
            </a:pPr>
            <a:r>
              <a:rPr lang="fa-IR" dirty="0" smtClean="0">
                <a:solidFill>
                  <a:srgbClr val="002060"/>
                </a:solidFill>
              </a:rPr>
              <a:t>به طور میانگین در هر بازی ۰.۵ بریک رخ میدهد</a:t>
            </a:r>
          </a:p>
          <a:p>
            <a:pPr algn="r">
              <a:lnSpc>
                <a:spcPct val="200000"/>
              </a:lnSpc>
            </a:pPr>
            <a:r>
              <a:rPr lang="fa-IR" dirty="0" smtClean="0">
                <a:solidFill>
                  <a:srgbClr val="FF0000"/>
                </a:solidFill>
                <a:sym typeface="Wingdings" panose="05000000000000000000" pitchFamily="2" charset="2"/>
              </a:rPr>
              <a:t></a:t>
            </a:r>
            <a:r>
              <a:rPr lang="fa-IR" dirty="0" smtClean="0">
                <a:solidFill>
                  <a:srgbClr val="002060"/>
                </a:solidFill>
                <a:sym typeface="Wingdings" panose="05000000000000000000" pitchFamily="2" charset="2"/>
              </a:rPr>
              <a:t> 21. </a:t>
            </a:r>
            <a:r>
              <a:rPr lang="fa-IR" dirty="0" smtClean="0">
                <a:solidFill>
                  <a:srgbClr val="002060"/>
                </a:solidFill>
              </a:rPr>
              <a:t>چند درصد بازیکنان به تازگی( بین 2010 تا 2020 ) به صورت حرفه ای وارد تنیس شدند : 69.45%</a:t>
            </a:r>
            <a:endParaRPr lang="en-US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2891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8227" y="592579"/>
            <a:ext cx="9917777" cy="1280890"/>
          </a:xfrm>
        </p:spPr>
        <p:txBody>
          <a:bodyPr>
            <a:normAutofit/>
          </a:bodyPr>
          <a:lstStyle/>
          <a:p>
            <a:pPr algn="ctr"/>
            <a:r>
              <a:rPr lang="fa-IR" sz="2400" dirty="0">
                <a:solidFill>
                  <a:srgbClr val="002060"/>
                </a:solidFill>
              </a:rPr>
              <a:t>3. چه بازیکنی بیشترین تعداد برد را دارد؟ </a:t>
            </a:r>
            <a:endParaRPr lang="en-US" sz="2400" dirty="0">
              <a:solidFill>
                <a:srgbClr val="00206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8227" y="1681655"/>
            <a:ext cx="9917777" cy="4230195"/>
          </a:xfrm>
        </p:spPr>
      </p:pic>
    </p:spTree>
    <p:extLst>
      <p:ext uri="{BB962C8B-B14F-4D97-AF65-F5344CB8AC3E}">
        <p14:creationId xmlns:p14="http://schemas.microsoft.com/office/powerpoint/2010/main" val="3707825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4924" y="413903"/>
            <a:ext cx="8911687" cy="1136089"/>
          </a:xfrm>
        </p:spPr>
        <p:txBody>
          <a:bodyPr>
            <a:normAutofit/>
          </a:bodyPr>
          <a:lstStyle/>
          <a:p>
            <a:pPr algn="ctr"/>
            <a:r>
              <a:rPr lang="fa-IR" sz="2400" dirty="0" smtClean="0">
                <a:solidFill>
                  <a:srgbClr val="002060"/>
                </a:solidFill>
              </a:rPr>
              <a:t>8. ایا رابطه ای بین تعداد خطای دوضرب و جنسیت بازیکن وجود دارد؟</a:t>
            </a:r>
            <a:endParaRPr lang="en-US" sz="2400" dirty="0">
              <a:solidFill>
                <a:srgbClr val="00206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4924" y="1266212"/>
            <a:ext cx="8982179" cy="4361858"/>
          </a:xfrm>
        </p:spPr>
      </p:pic>
      <p:sp>
        <p:nvSpPr>
          <p:cNvPr id="3" name="TextBox 2"/>
          <p:cNvSpPr txBox="1"/>
          <p:nvPr/>
        </p:nvSpPr>
        <p:spPr>
          <a:xfrm>
            <a:off x="3725374" y="5906814"/>
            <a:ext cx="53707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2400" dirty="0" smtClean="0">
                <a:solidFill>
                  <a:srgbClr val="002060"/>
                </a:solidFill>
              </a:rPr>
              <a:t>خیر وجود ندارد</a:t>
            </a:r>
            <a:endParaRPr lang="en-US" sz="24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4264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7950" y="324165"/>
            <a:ext cx="8911687" cy="1280890"/>
          </a:xfrm>
        </p:spPr>
        <p:txBody>
          <a:bodyPr>
            <a:normAutofit/>
          </a:bodyPr>
          <a:lstStyle/>
          <a:p>
            <a:pPr algn="ctr"/>
            <a:r>
              <a:rPr lang="fa-IR" sz="2400" dirty="0" smtClean="0">
                <a:solidFill>
                  <a:srgbClr val="002060"/>
                </a:solidFill>
              </a:rPr>
              <a:t>10. ایا همسبتگی بین قد بازیکنان و رنکینگ انها وجود دارد؟</a:t>
            </a:r>
            <a:endParaRPr lang="en-US" sz="2400" dirty="0">
              <a:solidFill>
                <a:srgbClr val="00206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2879" y="1153111"/>
            <a:ext cx="9181827" cy="4527512"/>
          </a:xfrm>
        </p:spPr>
      </p:pic>
      <p:sp>
        <p:nvSpPr>
          <p:cNvPr id="3" name="TextBox 2"/>
          <p:cNvSpPr txBox="1"/>
          <p:nvPr/>
        </p:nvSpPr>
        <p:spPr>
          <a:xfrm>
            <a:off x="4060136" y="5885793"/>
            <a:ext cx="48873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2000" dirty="0" smtClean="0">
                <a:solidFill>
                  <a:srgbClr val="002060"/>
                </a:solidFill>
              </a:rPr>
              <a:t>نمره همبستگی 0.05 نشان میدهد هیچ رابطه ای بین این دو متغیر وجود ندارد</a:t>
            </a:r>
            <a:endParaRPr lang="en-US" sz="2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3400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5945" y="420415"/>
            <a:ext cx="9571138" cy="1492468"/>
          </a:xfrm>
        </p:spPr>
        <p:txBody>
          <a:bodyPr>
            <a:normAutofit/>
          </a:bodyPr>
          <a:lstStyle/>
          <a:p>
            <a:pPr algn="ctr"/>
            <a:r>
              <a:rPr lang="fa-IR" sz="2400" dirty="0" smtClean="0">
                <a:solidFill>
                  <a:srgbClr val="002060"/>
                </a:solidFill>
              </a:rPr>
              <a:t>6. کدام کشور موفق ترین تنیسور هارا پرورش داده است؟</a:t>
            </a:r>
            <a:endParaRPr lang="en-US" sz="2400" dirty="0">
              <a:solidFill>
                <a:srgbClr val="00206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5945" y="1576552"/>
            <a:ext cx="9571138" cy="4419408"/>
          </a:xfrm>
        </p:spPr>
      </p:pic>
    </p:spTree>
    <p:extLst>
      <p:ext uri="{BB962C8B-B14F-4D97-AF65-F5344CB8AC3E}">
        <p14:creationId xmlns:p14="http://schemas.microsoft.com/office/powerpoint/2010/main" val="2450201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3905" y="178676"/>
            <a:ext cx="9024220" cy="1566041"/>
          </a:xfrm>
        </p:spPr>
        <p:txBody>
          <a:bodyPr>
            <a:normAutofit/>
          </a:bodyPr>
          <a:lstStyle/>
          <a:p>
            <a:pPr algn="ctr"/>
            <a:r>
              <a:rPr lang="fa-IR" sz="2400" dirty="0" smtClean="0">
                <a:solidFill>
                  <a:srgbClr val="002060"/>
                </a:solidFill>
              </a:rPr>
              <a:t>12. به طور میانگین در هر ست در دو بخش مردان و زنان چند گیم بازی شده است؟</a:t>
            </a:r>
            <a:br>
              <a:rPr lang="fa-IR" sz="2400" dirty="0" smtClean="0">
                <a:solidFill>
                  <a:srgbClr val="002060"/>
                </a:solidFill>
              </a:rPr>
            </a:br>
            <a:endParaRPr lang="en-US" sz="2400" dirty="0">
              <a:solidFill>
                <a:srgbClr val="00206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3905" y="1161714"/>
            <a:ext cx="9024220" cy="4382274"/>
          </a:xfrm>
        </p:spPr>
      </p:pic>
      <p:sp>
        <p:nvSpPr>
          <p:cNvPr id="3" name="TextBox 2"/>
          <p:cNvSpPr txBox="1"/>
          <p:nvPr/>
        </p:nvSpPr>
        <p:spPr>
          <a:xfrm>
            <a:off x="3461077" y="5880695"/>
            <a:ext cx="596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dirty="0" smtClean="0">
                <a:solidFill>
                  <a:srgbClr val="002060"/>
                </a:solidFill>
              </a:rPr>
              <a:t>علاوه بر این نمودار نشان میدهد بیشتر بازی ها به ست های 4 و 5 کشیده </a:t>
            </a:r>
            <a:r>
              <a:rPr lang="fa-IR" u="sng" dirty="0" smtClean="0">
                <a:solidFill>
                  <a:srgbClr val="002060"/>
                </a:solidFill>
              </a:rPr>
              <a:t>نشدند</a:t>
            </a:r>
            <a:endParaRPr lang="en-US" u="sng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0459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4835" y="609600"/>
            <a:ext cx="9673344" cy="1524000"/>
          </a:xfrm>
        </p:spPr>
        <p:txBody>
          <a:bodyPr>
            <a:normAutofit/>
          </a:bodyPr>
          <a:lstStyle/>
          <a:p>
            <a:pPr algn="ctr"/>
            <a:r>
              <a:rPr lang="fa-IR" sz="2400" dirty="0" smtClean="0">
                <a:solidFill>
                  <a:srgbClr val="002060"/>
                </a:solidFill>
              </a:rPr>
              <a:t>14. بیشترین زمین مورد استفاده کدام بوده ؟</a:t>
            </a:r>
            <a:endParaRPr lang="en-US" sz="2400" dirty="0">
              <a:solidFill>
                <a:srgbClr val="00206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4834" y="1660634"/>
            <a:ext cx="9673345" cy="4240706"/>
          </a:xfrm>
        </p:spPr>
      </p:pic>
    </p:spTree>
    <p:extLst>
      <p:ext uri="{BB962C8B-B14F-4D97-AF65-F5344CB8AC3E}">
        <p14:creationId xmlns:p14="http://schemas.microsoft.com/office/powerpoint/2010/main" val="2890879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6685" y="557048"/>
            <a:ext cx="9197459" cy="1418897"/>
          </a:xfrm>
        </p:spPr>
        <p:txBody>
          <a:bodyPr>
            <a:normAutofit/>
          </a:bodyPr>
          <a:lstStyle/>
          <a:p>
            <a:pPr algn="ctr"/>
            <a:r>
              <a:rPr lang="fa-IR" sz="2400" dirty="0" smtClean="0">
                <a:solidFill>
                  <a:srgbClr val="002060"/>
                </a:solidFill>
              </a:rPr>
              <a:t>13. چه تعداد از بازیکنان راست و چپ دست هستند؟</a:t>
            </a:r>
            <a:br>
              <a:rPr lang="fa-IR" sz="2400" dirty="0" smtClean="0">
                <a:solidFill>
                  <a:srgbClr val="002060"/>
                </a:solidFill>
              </a:rPr>
            </a:br>
            <a:endParaRPr lang="en-US" sz="2400" dirty="0">
              <a:solidFill>
                <a:srgbClr val="00206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6685" y="1671145"/>
            <a:ext cx="9197459" cy="4240705"/>
          </a:xfrm>
        </p:spPr>
      </p:pic>
    </p:spTree>
    <p:extLst>
      <p:ext uri="{BB962C8B-B14F-4D97-AF65-F5344CB8AC3E}">
        <p14:creationId xmlns:p14="http://schemas.microsoft.com/office/powerpoint/2010/main" val="3401323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9821" y="683173"/>
            <a:ext cx="9443908" cy="1243791"/>
          </a:xfrm>
        </p:spPr>
        <p:txBody>
          <a:bodyPr>
            <a:normAutofit/>
          </a:bodyPr>
          <a:lstStyle/>
          <a:p>
            <a:pPr algn="ctr"/>
            <a:r>
              <a:rPr lang="fa-IR" sz="2400" dirty="0" smtClean="0">
                <a:solidFill>
                  <a:srgbClr val="002060"/>
                </a:solidFill>
              </a:rPr>
              <a:t>18. ثروتمند ترین بازیکن کیست؟</a:t>
            </a:r>
            <a:endParaRPr lang="en-US" sz="2400" dirty="0">
              <a:solidFill>
                <a:srgbClr val="00206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3903" y="1748288"/>
            <a:ext cx="9359826" cy="4163562"/>
          </a:xfrm>
        </p:spPr>
      </p:pic>
    </p:spTree>
    <p:extLst>
      <p:ext uri="{BB962C8B-B14F-4D97-AF65-F5344CB8AC3E}">
        <p14:creationId xmlns:p14="http://schemas.microsoft.com/office/powerpoint/2010/main" val="3494200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1" y="693683"/>
            <a:ext cx="9493656" cy="1408386"/>
          </a:xfrm>
        </p:spPr>
        <p:txBody>
          <a:bodyPr>
            <a:normAutofit/>
          </a:bodyPr>
          <a:lstStyle/>
          <a:p>
            <a:pPr algn="ctr"/>
            <a:r>
              <a:rPr lang="fa-IR" sz="2400" dirty="0" smtClean="0">
                <a:solidFill>
                  <a:srgbClr val="002060"/>
                </a:solidFill>
              </a:rPr>
              <a:t>19.کدام شهر بیشترین میزبانی را انجام داده؟</a:t>
            </a:r>
            <a:endParaRPr lang="en-US" sz="2400" dirty="0">
              <a:solidFill>
                <a:srgbClr val="00206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1717132"/>
            <a:ext cx="9493657" cy="4194718"/>
          </a:xfrm>
        </p:spPr>
      </p:pic>
    </p:spTree>
    <p:extLst>
      <p:ext uri="{BB962C8B-B14F-4D97-AF65-F5344CB8AC3E}">
        <p14:creationId xmlns:p14="http://schemas.microsoft.com/office/powerpoint/2010/main" val="2064594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37401" y="735725"/>
            <a:ext cx="9629385" cy="1566041"/>
          </a:xfrm>
        </p:spPr>
        <p:txBody>
          <a:bodyPr>
            <a:normAutofit/>
          </a:bodyPr>
          <a:lstStyle/>
          <a:p>
            <a:pPr algn="ctr"/>
            <a:r>
              <a:rPr lang="fa-IR" sz="2400" dirty="0" smtClean="0">
                <a:solidFill>
                  <a:srgbClr val="002060"/>
                </a:solidFill>
              </a:rPr>
              <a:t>20. بهترین بازیکن در زمین خاک رس کیست؟</a:t>
            </a:r>
            <a:endParaRPr lang="en-US" sz="2400" dirty="0">
              <a:solidFill>
                <a:srgbClr val="00206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7401" y="1797269"/>
            <a:ext cx="9629385" cy="4058011"/>
          </a:xfrm>
        </p:spPr>
      </p:pic>
    </p:spTree>
    <p:extLst>
      <p:ext uri="{BB962C8B-B14F-4D97-AF65-F5344CB8AC3E}">
        <p14:creationId xmlns:p14="http://schemas.microsoft.com/office/powerpoint/2010/main" val="1490278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7987" y="672663"/>
            <a:ext cx="8887586" cy="1305910"/>
          </a:xfrm>
        </p:spPr>
        <p:txBody>
          <a:bodyPr>
            <a:normAutofit/>
          </a:bodyPr>
          <a:lstStyle/>
          <a:p>
            <a:pPr algn="ctr"/>
            <a:r>
              <a:rPr lang="fa-IR" sz="2400" dirty="0" smtClean="0">
                <a:solidFill>
                  <a:srgbClr val="002060"/>
                </a:solidFill>
              </a:rPr>
              <a:t>22. چند درصد بازیکنان مرد و زن هستند؟</a:t>
            </a:r>
            <a:endParaRPr lang="en-US" sz="2400" dirty="0">
              <a:solidFill>
                <a:srgbClr val="00206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7987" y="1743072"/>
            <a:ext cx="8887586" cy="4315923"/>
          </a:xfrm>
        </p:spPr>
      </p:pic>
    </p:spTree>
    <p:extLst>
      <p:ext uri="{BB962C8B-B14F-4D97-AF65-F5344CB8AC3E}">
        <p14:creationId xmlns:p14="http://schemas.microsoft.com/office/powerpoint/2010/main" val="2515437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5436" y="84084"/>
            <a:ext cx="9298575" cy="1715814"/>
          </a:xfrm>
        </p:spPr>
        <p:txBody>
          <a:bodyPr>
            <a:normAutofit/>
          </a:bodyPr>
          <a:lstStyle/>
          <a:p>
            <a:pPr algn="ctr"/>
            <a:r>
              <a:rPr lang="fa-IR" sz="2400" dirty="0" smtClean="0">
                <a:solidFill>
                  <a:srgbClr val="002060"/>
                </a:solidFill>
              </a:rPr>
              <a:t>23. بی ام آی بازیکنان چه چیزی را نشان میدهد؟</a:t>
            </a:r>
            <a:endParaRPr lang="en-US" sz="2400" dirty="0">
              <a:solidFill>
                <a:srgbClr val="00206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436" y="726881"/>
            <a:ext cx="9298576" cy="4165466"/>
          </a:xfrm>
        </p:spPr>
      </p:pic>
      <p:sp>
        <p:nvSpPr>
          <p:cNvPr id="3" name="TextBox 2"/>
          <p:cNvSpPr txBox="1"/>
          <p:nvPr/>
        </p:nvSpPr>
        <p:spPr>
          <a:xfrm>
            <a:off x="1965436" y="5103674"/>
            <a:ext cx="92985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dirty="0" smtClean="0">
                <a:solidFill>
                  <a:srgbClr val="002060"/>
                </a:solidFill>
              </a:rPr>
              <a:t>نشان میدهد تعداد کمی از بازیکنان هستند که از عدم امادگی جسمانی در مسابقات رنج میبرند(</a:t>
            </a:r>
            <a:endParaRPr lang="en-US" dirty="0" smtClean="0">
              <a:solidFill>
                <a:srgbClr val="002060"/>
              </a:solidFill>
            </a:endParaRPr>
          </a:p>
          <a:p>
            <a:pPr algn="ctr"/>
            <a:r>
              <a:rPr lang="fa-IR" dirty="0" smtClean="0">
                <a:solidFill>
                  <a:srgbClr val="002060"/>
                </a:solidFill>
              </a:rPr>
              <a:t> بخش </a:t>
            </a:r>
            <a:r>
              <a:rPr lang="en-US" dirty="0" smtClean="0">
                <a:solidFill>
                  <a:srgbClr val="002060"/>
                </a:solidFill>
              </a:rPr>
              <a:t>Obesity</a:t>
            </a:r>
          </a:p>
          <a:p>
            <a:pPr algn="ctr"/>
            <a:r>
              <a:rPr lang="fa-IR" dirty="0" smtClean="0">
                <a:solidFill>
                  <a:srgbClr val="002060"/>
                </a:solidFill>
              </a:rPr>
              <a:t>دارای یک نفر است که به خوبی در نمودار معلوم نشده)</a:t>
            </a:r>
            <a:endParaRPr lang="en-US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0815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66</TotalTime>
  <Words>436</Words>
  <Application>Microsoft Office PowerPoint</Application>
  <PresentationFormat>Widescreen</PresentationFormat>
  <Paragraphs>39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Century Gothic</vt:lpstr>
      <vt:lpstr>Tahoma</vt:lpstr>
      <vt:lpstr>Wingdings</vt:lpstr>
      <vt:lpstr>Wingdings 3</vt:lpstr>
      <vt:lpstr>Wisp</vt:lpstr>
      <vt:lpstr>بنام خدا</vt:lpstr>
      <vt:lpstr>PowerPoint Presentation</vt:lpstr>
      <vt:lpstr>PowerPoint Presentation</vt:lpstr>
      <vt:lpstr>3. چه بازیکنی بیشترین تعداد برد را دارد؟ </vt:lpstr>
      <vt:lpstr>8. ایا رابطه ای بین تعداد خطای دوضرب و جنسیت بازیکن وجود دارد؟</vt:lpstr>
      <vt:lpstr>10. ایا همسبتگی بین قد بازیکنان و رنکینگ انها وجود دارد؟</vt:lpstr>
      <vt:lpstr>6. کدام کشور موفق ترین تنیسور هارا پرورش داده است؟</vt:lpstr>
      <vt:lpstr>12. به طور میانگین در هر ست در دو بخش مردان و زنان چند گیم بازی شده است؟ </vt:lpstr>
      <vt:lpstr>14. بیشترین زمین مورد استفاده کدام بوده ؟</vt:lpstr>
      <vt:lpstr>13. چه تعداد از بازیکنان راست و چپ دست هستند؟ </vt:lpstr>
      <vt:lpstr>18. ثروتمند ترین بازیکن کیست؟</vt:lpstr>
      <vt:lpstr>19.کدام شهر بیشترین میزبانی را انجام داده؟</vt:lpstr>
      <vt:lpstr>20. بهترین بازیکن در زمین خاک رس کیست؟</vt:lpstr>
      <vt:lpstr>22. چند درصد بازیکنان مرد و زن هستند؟</vt:lpstr>
      <vt:lpstr>23. بی ام آی بازیکنان چه چیزی را نشان میدهد؟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بنام خدا</dc:title>
  <dc:creator>goldsystem</dc:creator>
  <cp:lastModifiedBy>goldsystem</cp:lastModifiedBy>
  <cp:revision>9</cp:revision>
  <dcterms:created xsi:type="dcterms:W3CDTF">2026-07-20T08:56:08Z</dcterms:created>
  <dcterms:modified xsi:type="dcterms:W3CDTF">2026-07-24T19:46:20Z</dcterms:modified>
</cp:coreProperties>
</file>